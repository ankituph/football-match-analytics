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77" r:id="rId4"/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5" d="100"/>
          <a:sy n="55" d="100"/>
        </p:scale>
        <p:origin x="113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B4A08-1FFF-45FF-9441-F05FEA9C3902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09F6A-A345-4899-94E4-6E502A81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09F6A-A345-4899-94E4-6E502A8102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08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C97D-FCE8-1083-369B-B1DC0FA68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5E77E-9EC9-3094-3BD0-0DB6BCE0B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37B1-270D-14BA-D8C1-F7D30F5A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26229-55F8-0B71-165E-E00073F0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6A4E1-FC13-05F6-5F28-143B543FA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3F0D-508B-7B7D-CB89-B119F236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33FE-9EE8-B7AB-FC38-E22CD6D9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A0726-0861-9334-0918-C600ABC8F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D0701-6F99-123F-A0E1-861A64B3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A96A3-1E52-65B8-84B8-0FF3D9166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3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8F06E-429C-3FB6-BEFC-ED9858A0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208E5-14CD-0A9A-C70A-DF64F2C9A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786C1-C8FF-702D-8E27-A1B68A1DE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FF5EF-3D92-2A80-DCAA-F1ECAACB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FDEAC-305E-4BF3-D027-4436DA9CE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0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F3DC-11AC-D44A-1775-CA6F40F5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6E90F-9B35-DA01-1DEF-F509EB39A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5756E-D789-E180-C9F3-6F5FD24CF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74B09-9E46-1FD4-FE9F-2ABC5D22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F3BAA-E238-B254-1621-CE533AA9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4969D-3797-B180-F270-CA7DBDFAE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8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1F44-EF3A-6FBF-270C-C679203B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C3474-E4E4-72AA-32DE-547352A1C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7B6AC-8877-3863-FB16-E57F9D946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FB0E1-F973-F6E9-D62A-38DF6E877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77040-DABE-AE20-08BC-A2795525C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F9F230-E2BF-3ECF-62C3-7A64F79D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FAB9EA-EA03-6F7E-FC1A-05308953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0C5644-25DD-6CDF-9F1E-B4A5484F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4004-69CC-1560-176C-94D5DDBBC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95801-41AB-43EA-A705-186139A0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53FB3-D765-122B-9299-EDC07192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A0550-9E30-DB89-4167-32E5C3C9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4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FD223-60D4-7129-C375-87D7F14E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4673A-9E98-DDEE-D388-447094CDD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58F35-7D49-BD2C-BEE3-CA1852C4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75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AFC8-CF99-4322-FFBC-1FF633A0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0FB1-3436-9F74-2D31-8AAEB77E0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0D665-167F-080D-DB4F-1E9A457FF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2FA39-26E1-AB27-BA1C-1996735F6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520CB-D357-FD65-6E48-A57F4944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26C7D-47DA-097B-0288-F878ADD4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4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D0C6-F166-9283-3713-AFF254D80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C8D550-2B35-06CB-844C-826435D79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C0DCC-BA10-9C1B-8362-234686B5C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9817B-7599-459F-0048-B898B07F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3C043-CE87-1936-1668-445CC7A3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1B747-2BDF-58A0-ABA3-3D5C0BA6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8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BBC2-BC78-0C32-2348-37AD07EA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5D25A-DCD5-9420-695E-72AC584AE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142ED-A34D-491B-574A-637FF325F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1754-3DCA-97F0-67B8-82125048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F09B7-6911-C560-152B-4D708694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5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E21624-9A59-2390-1809-BA43E73D0A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D53A0-8366-6BA2-FCA1-8CB63A595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40B3B-ADBE-3D46-CF85-32D1B6AF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C167D-F4D3-ACDA-DA16-3E61B5FD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CA1CC-24A4-78E0-93ED-AD7C3AEC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7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734BA3-1199-8747-2EB7-C2F25E86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66DB1-F81C-1DF3-BC81-D439704BE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9872-0D67-F080-E417-4E04A5B28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908F0-B3BE-4807-AD35-B84C7A4CC85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6F34-362C-A7BD-20E4-CC3BFDD25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F2C77-1753-8463-1678-1DAA14BBE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B6A4D-5518-4C54-9D12-673E3B494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2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75114-6D76-0D24-70D1-11E5F548C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30" y="3033132"/>
            <a:ext cx="11038114" cy="1321154"/>
          </a:xfrm>
        </p:spPr>
        <p:txBody>
          <a:bodyPr>
            <a:normAutofit/>
          </a:bodyPr>
          <a:lstStyle/>
          <a:p>
            <a:r>
              <a:rPr lang="en-US" sz="4000" dirty="0"/>
              <a:t>Presentation topic : Ip security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744F2-028C-DD1F-C5E4-22C17BE80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7371" y="5735636"/>
            <a:ext cx="4974771" cy="784907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Presented by : </a:t>
            </a:r>
            <a:r>
              <a:rPr lang="en-US" sz="2800" dirty="0" err="1"/>
              <a:t>pratistha</a:t>
            </a:r>
            <a:r>
              <a:rPr lang="en-US" sz="2800" dirty="0"/>
              <a:t> </a:t>
            </a:r>
            <a:r>
              <a:rPr lang="en-US" sz="2800" dirty="0" err="1"/>
              <a:t>rijal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29116-79BE-16D8-B770-9CE3AF99E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770" y="161936"/>
            <a:ext cx="2226284" cy="223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99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7BC6A-CD22-A29B-60F7-E3910CCF2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94" y="365126"/>
            <a:ext cx="11122306" cy="83864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0B7049-64CF-01B0-1A8A-02796AF0A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3" y="1053297"/>
            <a:ext cx="12208948" cy="5804704"/>
          </a:xfrm>
        </p:spPr>
        <p:txBody>
          <a:bodyPr>
            <a:normAutofit/>
          </a:bodyPr>
          <a:lstStyle/>
          <a:p>
            <a:r>
              <a:rPr lang="en-US" sz="3600" b="1" dirty="0"/>
              <a:t>IP Security (IPSec)</a:t>
            </a:r>
            <a:r>
              <a:rPr lang="en-US" sz="3600" dirty="0"/>
              <a:t> is a suite of protocols designed to provide security for communication over </a:t>
            </a:r>
            <a:r>
              <a:rPr lang="en-US" sz="3600" b="1" dirty="0"/>
              <a:t>Internet Protocol (IP) networks</a:t>
            </a:r>
            <a:r>
              <a:rPr lang="en-US" sz="3600" dirty="0"/>
              <a:t>.</a:t>
            </a:r>
          </a:p>
          <a:p>
            <a:r>
              <a:rPr lang="en-US" sz="3600" dirty="0"/>
              <a:t>IPSec protects IP packets from various security threats such as </a:t>
            </a:r>
            <a:r>
              <a:rPr lang="en-US" sz="3600" b="1" dirty="0"/>
              <a:t>eavesdropping, modification, impersonation, and replay attacks</a:t>
            </a:r>
            <a:r>
              <a:rPr lang="en-US" sz="3600" dirty="0"/>
              <a:t>.</a:t>
            </a:r>
          </a:p>
          <a:p>
            <a:r>
              <a:rPr lang="en-US" sz="3600" dirty="0"/>
              <a:t>It operates at the </a:t>
            </a:r>
            <a:r>
              <a:rPr lang="en-US" sz="3600" b="1" dirty="0"/>
              <a:t>Network Layer (Layer 3)</a:t>
            </a:r>
            <a:r>
              <a:rPr lang="en-US" sz="3600" dirty="0"/>
              <a:t> of the OSI model.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81999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E1AD-DB68-770F-02E8-1E86BB4ED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9918"/>
            <a:ext cx="11353799" cy="636609"/>
          </a:xfrm>
        </p:spPr>
        <p:txBody>
          <a:bodyPr>
            <a:normAutofit fontScale="90000"/>
          </a:bodyPr>
          <a:lstStyle/>
          <a:p>
            <a:r>
              <a:rPr lang="en-US" dirty="0"/>
              <a:t>Why it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F9AE8-7631-66CF-27E7-3E30D4422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8492"/>
            <a:ext cx="11353800" cy="561950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Common threats include:</a:t>
            </a:r>
          </a:p>
          <a:p>
            <a:r>
              <a:rPr lang="en-US" b="1" dirty="0"/>
              <a:t>1. Eavesdropping</a:t>
            </a:r>
            <a:br>
              <a:rPr lang="en-US" dirty="0"/>
            </a:br>
            <a:r>
              <a:rPr lang="en-US" dirty="0"/>
              <a:t>An attacker may intercept and read confidential information.</a:t>
            </a:r>
          </a:p>
          <a:p>
            <a:r>
              <a:rPr lang="en-US" b="1" dirty="0"/>
              <a:t>2. Data Modification</a:t>
            </a:r>
            <a:br>
              <a:rPr lang="en-US" dirty="0"/>
            </a:br>
            <a:r>
              <a:rPr lang="en-US" dirty="0"/>
              <a:t>An attacker may modify the data while it is being transmitted.</a:t>
            </a:r>
          </a:p>
          <a:p>
            <a:r>
              <a:rPr lang="en-US" b="1" dirty="0"/>
              <a:t>3. Impersonation</a:t>
            </a:r>
            <a:br>
              <a:rPr lang="en-US" dirty="0"/>
            </a:br>
            <a:r>
              <a:rPr lang="en-US" dirty="0"/>
              <a:t>An attacker may pretend to be a legitimate user or device.</a:t>
            </a:r>
          </a:p>
          <a:p>
            <a:r>
              <a:rPr lang="en-US" b="1" dirty="0"/>
              <a:t>4. Replay Attack</a:t>
            </a:r>
            <a:br>
              <a:rPr lang="en-US" dirty="0"/>
            </a:br>
            <a:r>
              <a:rPr lang="en-US" dirty="0"/>
              <a:t>An attacker may capture a valid packet and retransmit it later.</a:t>
            </a:r>
          </a:p>
          <a:p>
            <a:r>
              <a:rPr lang="en-US" b="1" dirty="0"/>
              <a:t>5. Man-in-the-Middle Attack</a:t>
            </a:r>
            <a:br>
              <a:rPr lang="en-US" dirty="0"/>
            </a:br>
            <a:r>
              <a:rPr lang="en-US" dirty="0"/>
              <a:t>An attacker may position themselves between two communicating devices and intercept their communication.</a:t>
            </a:r>
          </a:p>
          <a:p>
            <a:r>
              <a:rPr lang="en-US" dirty="0"/>
              <a:t>Therefore, IPSec is used to provide secure and trusted IP communication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2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89FD-6240-C56E-5387-36EA90E1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8343"/>
            <a:ext cx="11353800" cy="1354238"/>
          </a:xfrm>
        </p:spPr>
        <p:txBody>
          <a:bodyPr/>
          <a:lstStyle/>
          <a:p>
            <a:r>
              <a:rPr lang="en-US" dirty="0"/>
              <a:t>Security Services Provided by IPSec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4240-11E3-F25B-9F60-0D43B6300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879676"/>
            <a:ext cx="11353800" cy="597832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1. Confidentiality</a:t>
            </a:r>
          </a:p>
          <a:p>
            <a:r>
              <a:rPr lang="en-US" dirty="0"/>
              <a:t>Confidentiality ensures that unauthorized users cannot read the transmitted data.</a:t>
            </a:r>
          </a:p>
          <a:p>
            <a:r>
              <a:rPr lang="en-US" dirty="0"/>
              <a:t>It is mainly achieved through </a:t>
            </a:r>
            <a:r>
              <a:rPr lang="en-US" b="1" dirty="0"/>
              <a:t>encryption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Original data → Encryption → Encrypted data</a:t>
            </a:r>
          </a:p>
          <a:p>
            <a:r>
              <a:rPr lang="en-US" dirty="0"/>
              <a:t>Only the intended receiver can decrypt the data and obtain the original information.</a:t>
            </a:r>
          </a:p>
          <a:p>
            <a:endParaRPr lang="en-US" b="1" dirty="0"/>
          </a:p>
          <a:p>
            <a:r>
              <a:rPr lang="en-US" b="1" dirty="0"/>
              <a:t>2. Data Integrity</a:t>
            </a:r>
          </a:p>
          <a:p>
            <a:r>
              <a:rPr lang="en-US" dirty="0"/>
              <a:t>Data integrity ensures that the data has </a:t>
            </a:r>
            <a:r>
              <a:rPr lang="en-US" b="1" dirty="0"/>
              <a:t>not been altered or modified</a:t>
            </a:r>
            <a:r>
              <a:rPr lang="en-US" dirty="0"/>
              <a:t> during transmission.</a:t>
            </a:r>
          </a:p>
          <a:p>
            <a:r>
              <a:rPr lang="en-US" dirty="0"/>
              <a:t>IPSec uses authentication and integrity mechanisms to detect unauthorized changes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80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F4598-7FA5-4808-D3D8-44AEA13DD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10705618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 Data Origin Authentication</a:t>
            </a:r>
          </a:p>
          <a:p>
            <a:r>
              <a:rPr lang="en-US" dirty="0"/>
              <a:t>It verifies that the received data actually comes from the </a:t>
            </a:r>
            <a:r>
              <a:rPr lang="en-US" b="1" dirty="0"/>
              <a:t>claimed sender</a:t>
            </a:r>
            <a:r>
              <a:rPr lang="en-US" dirty="0"/>
              <a:t>.</a:t>
            </a:r>
          </a:p>
          <a:p>
            <a:r>
              <a:rPr lang="en-US" dirty="0"/>
              <a:t>This prevents attackers from impersonating legitimate communication partners.</a:t>
            </a:r>
          </a:p>
          <a:p>
            <a:pPr marL="0" indent="0">
              <a:buNone/>
            </a:pPr>
            <a:r>
              <a:rPr lang="en-US" b="1" dirty="0"/>
              <a:t>4. Anti-Replay Protection</a:t>
            </a:r>
          </a:p>
          <a:p>
            <a:r>
              <a:rPr lang="en-US" dirty="0"/>
              <a:t>Anti-replay protection prevents attackers from capturing valid packets and sending them again later.</a:t>
            </a:r>
          </a:p>
          <a:p>
            <a:r>
              <a:rPr lang="en-US" dirty="0"/>
              <a:t>IPSec uses mechanisms such as </a:t>
            </a:r>
            <a:r>
              <a:rPr lang="en-US" b="1" dirty="0"/>
              <a:t>sequence numbers and replay windows</a:t>
            </a:r>
            <a:r>
              <a:rPr lang="en-US" dirty="0"/>
              <a:t> to detect duplicate or replayed packets.</a:t>
            </a:r>
          </a:p>
          <a:p>
            <a:pPr marL="0" indent="0">
              <a:buNone/>
            </a:pPr>
            <a:r>
              <a:rPr lang="en-US" b="1" dirty="0"/>
              <a:t>5  Access Control</a:t>
            </a:r>
          </a:p>
          <a:p>
            <a:r>
              <a:rPr lang="en-US" dirty="0"/>
              <a:t>IPSec can control which communication is allowed and which communication should be blocked according to configured security policies.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4178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55B81-8BA3-5581-2397-3CB7B7F23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19919"/>
            <a:ext cx="11041284" cy="5517205"/>
          </a:xfrm>
        </p:spPr>
        <p:txBody>
          <a:bodyPr>
            <a:normAutofit/>
          </a:bodyPr>
          <a:lstStyle/>
          <a:p>
            <a:r>
              <a:rPr lang="en-US" b="1" dirty="0"/>
              <a:t>4. IPSec Architecture</a:t>
            </a:r>
          </a:p>
          <a:p>
            <a:r>
              <a:rPr lang="en-US" dirty="0"/>
              <a:t>The main components of IPSec include:</a:t>
            </a:r>
          </a:p>
          <a:p>
            <a:pPr lvl="0"/>
            <a:r>
              <a:rPr lang="en-US" b="1" dirty="0"/>
              <a:t>Authentication Header (AH)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Encapsulating Security Payload (ESP)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Security Association (SA)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Internet Key Exchange (IKE)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IPSec Modes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Transport Mode </a:t>
            </a:r>
          </a:p>
          <a:p>
            <a:pPr lvl="1"/>
            <a:r>
              <a:rPr lang="en-US" dirty="0"/>
              <a:t>Tunnel Mode </a:t>
            </a:r>
          </a:p>
          <a:p>
            <a:r>
              <a:rPr lang="en-US" dirty="0"/>
              <a:t>These components work together to provide secure IP communication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88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0186-24B8-0831-1478-B911E5765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22" y="115747"/>
            <a:ext cx="11226478" cy="6061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1.Authentication Header (AH)</a:t>
            </a:r>
          </a:p>
          <a:p>
            <a:r>
              <a:rPr lang="en-US" b="1" dirty="0"/>
              <a:t>Authentication Header (AH)</a:t>
            </a:r>
            <a:r>
              <a:rPr lang="en-US" dirty="0"/>
              <a:t> is an IPSec protocol that provides:</a:t>
            </a:r>
          </a:p>
          <a:p>
            <a:pPr lvl="0"/>
            <a:r>
              <a:rPr lang="en-US" dirty="0"/>
              <a:t>Data integrity </a:t>
            </a:r>
          </a:p>
          <a:p>
            <a:pPr lvl="0"/>
            <a:r>
              <a:rPr lang="en-US" dirty="0"/>
              <a:t>Data origin authentication </a:t>
            </a:r>
          </a:p>
          <a:p>
            <a:pPr lvl="0"/>
            <a:r>
              <a:rPr lang="en-US" dirty="0"/>
              <a:t>Anti-replay protection </a:t>
            </a:r>
          </a:p>
          <a:p>
            <a:r>
              <a:rPr lang="en-US" dirty="0"/>
              <a:t>However, </a:t>
            </a:r>
            <a:r>
              <a:rPr lang="en-US" b="1" dirty="0"/>
              <a:t>AH does not provide confidentiality</a:t>
            </a:r>
            <a:r>
              <a:rPr lang="en-US" dirty="0"/>
              <a:t> because it does not encrypt the data.</a:t>
            </a:r>
          </a:p>
          <a:p>
            <a:r>
              <a:rPr lang="en-US" b="1" dirty="0"/>
              <a:t>Basic concept:</a:t>
            </a:r>
          </a:p>
          <a:p>
            <a:r>
              <a:rPr lang="en-US" b="1" dirty="0"/>
              <a:t>Original IP Packet → AH Protection → Network → Receiver</a:t>
            </a:r>
            <a:endParaRPr lang="en-US" dirty="0"/>
          </a:p>
          <a:p>
            <a:r>
              <a:rPr lang="en-US" dirty="0"/>
              <a:t>The receiver verifies whether the packet is authentic and whether its contents have been modified.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668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059C6-C1EF-18FE-CCE3-6F25393E4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" y="219919"/>
            <a:ext cx="11249628" cy="5957044"/>
          </a:xfrm>
        </p:spPr>
        <p:txBody>
          <a:bodyPr>
            <a:normAutofit/>
          </a:bodyPr>
          <a:lstStyle/>
          <a:p>
            <a:r>
              <a:rPr lang="en-US" b="1" dirty="0"/>
              <a:t>Encapsulating Security Payload (ESP)</a:t>
            </a:r>
            <a:r>
              <a:rPr lang="en-US" dirty="0"/>
              <a:t> is an IPSec protocol that provides security for IP packets.</a:t>
            </a:r>
          </a:p>
          <a:p>
            <a:r>
              <a:rPr lang="en-US" dirty="0"/>
              <a:t>ESP can provide:</a:t>
            </a:r>
          </a:p>
          <a:p>
            <a:pPr lvl="0"/>
            <a:r>
              <a:rPr lang="en-US" dirty="0"/>
              <a:t>Confidentiality </a:t>
            </a:r>
          </a:p>
          <a:p>
            <a:pPr lvl="0"/>
            <a:r>
              <a:rPr lang="en-US" dirty="0"/>
              <a:t>Data integrity </a:t>
            </a:r>
          </a:p>
          <a:p>
            <a:pPr lvl="0"/>
            <a:r>
              <a:rPr lang="en-US" dirty="0"/>
              <a:t>Data origin authentication </a:t>
            </a:r>
          </a:p>
          <a:p>
            <a:pPr lvl="0"/>
            <a:r>
              <a:rPr lang="en-US" dirty="0"/>
              <a:t>Anti-replay protection </a:t>
            </a:r>
          </a:p>
          <a:p>
            <a:r>
              <a:rPr lang="en-US" dirty="0"/>
              <a:t>The major advantage of ESP is that it supports </a:t>
            </a:r>
            <a:r>
              <a:rPr lang="en-US" b="1" dirty="0"/>
              <a:t>encryption</a:t>
            </a:r>
            <a:r>
              <a:rPr lang="en-US" dirty="0"/>
              <a:t>, making it suitable for protecting confidential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42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6A039-F042-BF19-5CC8-856947E0A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353800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Security Association (SA)</a:t>
            </a:r>
            <a:r>
              <a:rPr lang="en-US" dirty="0"/>
              <a:t> is a logical relationship between communicating devices that defines how IPSec will protect their communication.</a:t>
            </a:r>
          </a:p>
          <a:p>
            <a:r>
              <a:rPr lang="en-US" dirty="0"/>
              <a:t>An SA contains security parameters such as:</a:t>
            </a:r>
          </a:p>
          <a:p>
            <a:pPr lvl="0"/>
            <a:r>
              <a:rPr lang="en-US" dirty="0"/>
              <a:t>Security protocol used (AH or ESP) </a:t>
            </a:r>
          </a:p>
          <a:p>
            <a:pPr lvl="0"/>
            <a:r>
              <a:rPr lang="en-US" dirty="0"/>
              <a:t>Encryption algorithm </a:t>
            </a:r>
          </a:p>
          <a:p>
            <a:pPr lvl="0"/>
            <a:r>
              <a:rPr lang="en-US" dirty="0"/>
              <a:t>Authentication/integrity algorithm </a:t>
            </a:r>
          </a:p>
          <a:p>
            <a:pPr lvl="0"/>
            <a:r>
              <a:rPr lang="en-US" dirty="0"/>
              <a:t>Cryptographic keys </a:t>
            </a:r>
          </a:p>
          <a:p>
            <a:pPr lvl="0"/>
            <a:r>
              <a:rPr lang="en-US" dirty="0"/>
              <a:t>Lifetime of the security association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76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58D1C-2F62-F18A-4C18-29A2DF609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896"/>
            <a:ext cx="11353800" cy="6038067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Internet Key Exchange (IKE)</a:t>
            </a:r>
            <a:r>
              <a:rPr lang="en-US" dirty="0"/>
              <a:t> is used to establish and manage security parameters and cryptographic keys for IPSec communication.</a:t>
            </a:r>
          </a:p>
          <a:p>
            <a:r>
              <a:rPr lang="en-US" dirty="0"/>
              <a:t>IKE helps communicating devices:</a:t>
            </a:r>
          </a:p>
          <a:p>
            <a:pPr lvl="0"/>
            <a:r>
              <a:rPr lang="en-US" dirty="0"/>
              <a:t>Authenticate each other. </a:t>
            </a:r>
          </a:p>
          <a:p>
            <a:pPr lvl="0"/>
            <a:r>
              <a:rPr lang="en-US" dirty="0"/>
              <a:t>Agree on security algorithms. </a:t>
            </a:r>
          </a:p>
          <a:p>
            <a:pPr lvl="0"/>
            <a:r>
              <a:rPr lang="en-US" dirty="0"/>
              <a:t>Establish cryptographic keys. </a:t>
            </a:r>
          </a:p>
          <a:p>
            <a:pPr lvl="0"/>
            <a:r>
              <a:rPr lang="en-US" dirty="0"/>
              <a:t>Establish Security Associations (SAs).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75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2F66-BEBC-95FC-5EDE-19BD282B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Ipsec</a:t>
            </a:r>
            <a:r>
              <a:rPr lang="en-US" dirty="0"/>
              <a:t>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155E3-80A5-AEE7-666E-A2A1D317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IPSec operates mainly in two modes:</a:t>
            </a:r>
          </a:p>
          <a:p>
            <a:pPr lvl="0"/>
            <a:r>
              <a:rPr lang="en-US" b="1" dirty="0"/>
              <a:t>Transport Mode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Tunnel Mode</a:t>
            </a:r>
            <a:r>
              <a:rPr lang="en-US" dirty="0"/>
              <a:t> </a:t>
            </a:r>
          </a:p>
          <a:p>
            <a:r>
              <a:rPr lang="en-US" dirty="0"/>
              <a:t>These modes determine how an IP packet is protected.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360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593C-9B35-CF78-80BC-3CE093E33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FA902-BC48-A5CD-22B3-5838894CD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In </a:t>
            </a:r>
            <a:r>
              <a:rPr lang="en-US" b="1" dirty="0"/>
              <a:t>Transport Mode</a:t>
            </a:r>
            <a:r>
              <a:rPr lang="en-US" dirty="0"/>
              <a:t>, IPSec protects the </a:t>
            </a:r>
            <a:r>
              <a:rPr lang="en-US" b="1" dirty="0"/>
              <a:t>payload of the original IP packet</a:t>
            </a:r>
            <a:r>
              <a:rPr lang="en-US" dirty="0"/>
              <a:t>, while the original IP header remains visible.</a:t>
            </a:r>
          </a:p>
          <a:p>
            <a:r>
              <a:rPr lang="en-US" b="1" dirty="0"/>
              <a:t>Structure:</a:t>
            </a:r>
          </a:p>
          <a:p>
            <a:r>
              <a:rPr lang="en-US" b="1" dirty="0"/>
              <a:t>Original IP Header + Protected Payload</a:t>
            </a:r>
            <a:endParaRPr lang="en-US" dirty="0"/>
          </a:p>
          <a:p>
            <a:r>
              <a:rPr lang="en-US" b="1" dirty="0"/>
              <a:t>Characteristics:</a:t>
            </a:r>
          </a:p>
          <a:p>
            <a:pPr lvl="0"/>
            <a:r>
              <a:rPr lang="en-US" dirty="0"/>
              <a:t>Protects the IP payload. </a:t>
            </a:r>
          </a:p>
          <a:p>
            <a:pPr lvl="0"/>
            <a:r>
              <a:rPr lang="en-US" dirty="0"/>
              <a:t>Original IP header is retained. </a:t>
            </a:r>
          </a:p>
          <a:p>
            <a:pPr lvl="0"/>
            <a:r>
              <a:rPr lang="en-US" dirty="0"/>
              <a:t>Generally used for </a:t>
            </a:r>
            <a:r>
              <a:rPr lang="en-US" b="1" dirty="0"/>
              <a:t>host-to-host communication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Has lower overhead compared with tunnel mode.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186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18BC-4E95-31B1-18D4-CA6162D4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Tunnel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23133-4017-70AC-5DE9-4BF0F84AB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3216"/>
            <a:ext cx="11353800" cy="5584784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dirty="0"/>
              <a:t>In </a:t>
            </a:r>
            <a:r>
              <a:rPr lang="en-US" b="1" dirty="0"/>
              <a:t>Tunnel Mode</a:t>
            </a:r>
            <a:r>
              <a:rPr lang="en-US" dirty="0"/>
              <a:t>, IPSec protects the </a:t>
            </a:r>
            <a:r>
              <a:rPr lang="en-US" b="1" dirty="0"/>
              <a:t>entire original IP packet</a:t>
            </a:r>
            <a:r>
              <a:rPr lang="en-US" dirty="0"/>
              <a:t>.</a:t>
            </a:r>
          </a:p>
          <a:p>
            <a:r>
              <a:rPr lang="en-US" dirty="0"/>
              <a:t>The original packet is encapsulated inside a new IP packet with a new IP header.</a:t>
            </a:r>
          </a:p>
          <a:p>
            <a:r>
              <a:rPr lang="en-US" b="1" dirty="0"/>
              <a:t>Structure:</a:t>
            </a:r>
          </a:p>
          <a:p>
            <a:r>
              <a:rPr lang="en-US" b="1" dirty="0"/>
              <a:t>New IP Header + Protected Original IP Packet</a:t>
            </a:r>
            <a:endParaRPr lang="en-US" dirty="0"/>
          </a:p>
          <a:p>
            <a:r>
              <a:rPr lang="en-US" b="1" dirty="0"/>
              <a:t>Characteristics:</a:t>
            </a:r>
          </a:p>
          <a:p>
            <a:pPr lvl="0"/>
            <a:r>
              <a:rPr lang="en-US" dirty="0"/>
              <a:t>Protects the entire original IP packet. </a:t>
            </a:r>
          </a:p>
          <a:p>
            <a:pPr lvl="0"/>
            <a:r>
              <a:rPr lang="en-US" dirty="0"/>
              <a:t>A new IP header is added. </a:t>
            </a:r>
          </a:p>
          <a:p>
            <a:pPr lvl="0"/>
            <a:r>
              <a:rPr lang="en-US" dirty="0"/>
              <a:t>Commonly used in </a:t>
            </a:r>
            <a:r>
              <a:rPr lang="en-US" b="1" dirty="0"/>
              <a:t>VPNs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Suitable for network-to-network or gateway-to-gateway communication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6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E8F3-E7A0-6C5C-D917-3FEA7E1F1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018572"/>
          </a:xfrm>
        </p:spPr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5ACB9-D781-6018-5FF0-15DC8B69F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8572"/>
            <a:ext cx="11353800" cy="515839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lvl="0"/>
            <a:r>
              <a:rPr lang="en-US" dirty="0"/>
              <a:t>Provides strong security at the IP layer. </a:t>
            </a:r>
          </a:p>
          <a:p>
            <a:pPr lvl="0"/>
            <a:r>
              <a:rPr lang="en-US" dirty="0"/>
              <a:t>Provides confidentiality through encryption. </a:t>
            </a:r>
          </a:p>
          <a:p>
            <a:pPr lvl="0"/>
            <a:r>
              <a:rPr lang="en-US" dirty="0"/>
              <a:t>Provides data integrity. </a:t>
            </a:r>
          </a:p>
          <a:p>
            <a:pPr lvl="0"/>
            <a:r>
              <a:rPr lang="en-US" dirty="0"/>
              <a:t>Provides authentication. </a:t>
            </a:r>
          </a:p>
          <a:p>
            <a:pPr lvl="0"/>
            <a:r>
              <a:rPr lang="en-US" dirty="0"/>
              <a:t>Provides anti-replay protection. </a:t>
            </a:r>
          </a:p>
          <a:p>
            <a:pPr lvl="0"/>
            <a:r>
              <a:rPr lang="en-US" dirty="0"/>
              <a:t>Can secure communication over public networks. </a:t>
            </a:r>
          </a:p>
          <a:p>
            <a:pPr lvl="0"/>
            <a:r>
              <a:rPr lang="en-US" dirty="0"/>
              <a:t>Commonly used for VPNs. </a:t>
            </a:r>
          </a:p>
          <a:p>
            <a:pPr lvl="0"/>
            <a:r>
              <a:rPr lang="en-US" dirty="0"/>
              <a:t>Works below the application layer, so multiple applications can benefit from the protection.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312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F8ED-96E5-128D-B7B2-36AF297A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799" cy="1041721"/>
          </a:xfrm>
        </p:spPr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74F14-2EA9-C09B-4D9A-B728F8DE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9676"/>
            <a:ext cx="11353800" cy="5978324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lvl="0"/>
            <a:r>
              <a:rPr lang="en-US" dirty="0"/>
              <a:t>Configuration can be complex. 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Encryption and authentication introduce processing overhead.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Key management can be complicated.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Troubleshooting IPSec connections can be difficult.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Compatibility with NAT and some network environments may require additional mechanisms such as </a:t>
            </a:r>
            <a:r>
              <a:rPr lang="en-US" b="1" dirty="0"/>
              <a:t>NAT Traversal (NAT-T)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098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03869-C9DA-7F5F-11F8-4F89AF02D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1563109" cy="694481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IP SECURITY (IPSec)</a:t>
            </a:r>
          </a:p>
          <a:p>
            <a:r>
              <a:rPr lang="en-US" dirty="0"/>
              <a:t>                           │</a:t>
            </a:r>
          </a:p>
          <a:p>
            <a:r>
              <a:rPr lang="en-US" dirty="0"/>
              <a:t>          ┌────────────────┼────────────────┐</a:t>
            </a:r>
          </a:p>
          <a:p>
            <a:r>
              <a:rPr lang="en-US" dirty="0"/>
              <a:t>          │                │                │</a:t>
            </a:r>
          </a:p>
          <a:p>
            <a:r>
              <a:rPr lang="en-US" dirty="0"/>
              <a:t>         AH               ESP               IKE</a:t>
            </a:r>
          </a:p>
          <a:p>
            <a:r>
              <a:rPr lang="en-US" dirty="0"/>
              <a:t>          │                │                │</a:t>
            </a:r>
          </a:p>
          <a:p>
            <a:r>
              <a:rPr lang="en-US" dirty="0"/>
              <a:t> Authentication       Encryption       Key Exchange</a:t>
            </a:r>
          </a:p>
          <a:p>
            <a:r>
              <a:rPr lang="en-US" dirty="0"/>
              <a:t> Integrity            </a:t>
            </a:r>
            <a:r>
              <a:rPr lang="en-US" dirty="0" err="1"/>
              <a:t>Integrity</a:t>
            </a:r>
            <a:r>
              <a:rPr lang="en-US" dirty="0"/>
              <a:t>         Authentication</a:t>
            </a:r>
          </a:p>
          <a:p>
            <a:r>
              <a:rPr lang="en-US" dirty="0"/>
              <a:t> Anti-Replay          Authentication    SA Establishment</a:t>
            </a:r>
          </a:p>
          <a:p>
            <a:r>
              <a:rPr lang="en-US" dirty="0"/>
              <a:t>                      Anti-Replay</a:t>
            </a:r>
          </a:p>
          <a:p>
            <a:r>
              <a:rPr lang="en-US" dirty="0"/>
              <a:t>                           │</a:t>
            </a:r>
          </a:p>
          <a:p>
            <a:r>
              <a:rPr lang="en-US" dirty="0"/>
              <a:t>                           ▼</a:t>
            </a:r>
          </a:p>
          <a:p>
            <a:r>
              <a:rPr lang="en-US" dirty="0"/>
              <a:t>                 Security Association</a:t>
            </a:r>
          </a:p>
          <a:p>
            <a:r>
              <a:rPr lang="en-US" dirty="0"/>
              <a:t>                           │</a:t>
            </a:r>
          </a:p>
          <a:p>
            <a:r>
              <a:rPr lang="en-US" dirty="0"/>
              <a:t>                  ┌────────┴────────┐</a:t>
            </a:r>
          </a:p>
          <a:p>
            <a:r>
              <a:rPr lang="en-US" dirty="0"/>
              <a:t>                  │                 │</a:t>
            </a:r>
          </a:p>
          <a:p>
            <a:r>
              <a:rPr lang="en-US" dirty="0"/>
              <a:t>             Transport Mode    Tunnel Mode</a:t>
            </a:r>
          </a:p>
        </p:txBody>
      </p:sp>
    </p:spTree>
    <p:extLst>
      <p:ext uri="{BB962C8B-B14F-4D97-AF65-F5344CB8AC3E}">
        <p14:creationId xmlns:p14="http://schemas.microsoft.com/office/powerpoint/2010/main" val="211936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</TotalTime>
  <Words>899</Words>
  <Application>Microsoft Office PowerPoint</Application>
  <PresentationFormat>Widescreen</PresentationFormat>
  <Paragraphs>139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Presentation topic : Ip security overview</vt:lpstr>
      <vt:lpstr>Introduction</vt:lpstr>
      <vt:lpstr>Why it needed</vt:lpstr>
      <vt:lpstr>Security Services Provided by IPSec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Ipsec mode</vt:lpstr>
      <vt:lpstr>Transport mode</vt:lpstr>
      <vt:lpstr>Tunnel mode</vt:lpstr>
      <vt:lpstr>Advantages</vt:lpstr>
      <vt:lpstr>limitations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QCS</dc:creator>
  <cp:lastModifiedBy>rijalnabaraj11@gmail.com</cp:lastModifiedBy>
  <cp:revision>4</cp:revision>
  <dcterms:created xsi:type="dcterms:W3CDTF">2026-08-05T01:15:13Z</dcterms:created>
  <dcterms:modified xsi:type="dcterms:W3CDTF">2026-08-31T14:44:06Z</dcterms:modified>
</cp:coreProperties>
</file>